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5" d="100"/>
          <a:sy n="85" d="100"/>
        </p:scale>
        <p:origin x="744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36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8AD39"/>
          </a:solidFill>
          <a:ln>
            <a:solidFill>
              <a:srgbClr val="E8AD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94360"/>
            <a:ext cx="7315200" cy="32004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98E7C1"/>
                </a:solidFill>
                <a:latin typeface="Aptos"/>
              </a:rPr>
              <a:t>PRESENTACIÓN TÉCNICA · MÉTODO SCQA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143000"/>
            <a:ext cx="7955279" cy="14173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Aptos"/>
              </a:rPr>
              <a:t>PACKING LIST Y</a:t>
            </a:r>
          </a:p>
          <a:p>
            <a:pPr algn="l">
              <a:spcAft>
                <a:spcPts val="400"/>
              </a:spcAft>
            </a:pPr>
            <a:r>
              <a:rPr sz="3200" b="1" i="0">
                <a:solidFill>
                  <a:srgbClr val="FFFFFF"/>
                </a:solidFill>
                <a:latin typeface="Aptos"/>
              </a:rPr>
              <a:t>DESPACHO DE EXPORTACIÓN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788920"/>
            <a:ext cx="7772400" cy="45720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D9EBE3"/>
                </a:solidFill>
                <a:latin typeface="Aptos"/>
              </a:rPr>
              <a:t>Modernización de Java a C# con ASP.NET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3401568"/>
            <a:ext cx="7772400" cy="34747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D9EBE3"/>
                </a:solidFill>
                <a:latin typeface="Aptos"/>
              </a:rPr>
              <a:t>Dominio industrial: planta atunera y terminal marítimo</a:t>
            </a:r>
          </a:p>
        </p:txBody>
      </p:sp>
      <p:sp>
        <p:nvSpPr>
          <p:cNvPr id="7" name="Oval 6"/>
          <p:cNvSpPr/>
          <p:nvPr/>
        </p:nvSpPr>
        <p:spPr>
          <a:xfrm>
            <a:off x="8321040" y="1508760"/>
            <a:ext cx="658368" cy="658368"/>
          </a:xfrm>
          <a:prstGeom prst="ellipse">
            <a:avLst/>
          </a:prstGeom>
          <a:solidFill>
            <a:srgbClr val="05694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V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942832" y="1837943"/>
            <a:ext cx="384048" cy="822960"/>
          </a:xfrm>
          <a:prstGeom prst="line">
            <a:avLst/>
          </a:prstGeom>
          <a:ln w="25400">
            <a:solidFill>
              <a:srgbClr val="98E7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9326880" y="2331720"/>
            <a:ext cx="658368" cy="658368"/>
          </a:xfrm>
          <a:prstGeom prst="ellipse">
            <a:avLst/>
          </a:prstGeom>
          <a:solidFill>
            <a:srgbClr val="2D639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PL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9948672" y="1837943"/>
            <a:ext cx="338328" cy="822960"/>
          </a:xfrm>
          <a:prstGeom prst="line">
            <a:avLst/>
          </a:prstGeom>
          <a:ln w="25400">
            <a:solidFill>
              <a:srgbClr val="98E7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0287000" y="1508760"/>
            <a:ext cx="658368" cy="658368"/>
          </a:xfrm>
          <a:prstGeom prst="ellipse">
            <a:avLst/>
          </a:prstGeom>
          <a:solidFill>
            <a:srgbClr val="E8AD3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QA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908792" y="1837943"/>
            <a:ext cx="201168" cy="822960"/>
          </a:xfrm>
          <a:prstGeom prst="line">
            <a:avLst/>
          </a:prstGeom>
          <a:ln w="25400">
            <a:solidFill>
              <a:srgbClr val="98E7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11109960" y="2331720"/>
            <a:ext cx="658368" cy="658368"/>
          </a:xfrm>
          <a:prstGeom prst="ellipse">
            <a:avLst/>
          </a:prstGeom>
          <a:solidFill>
            <a:srgbClr val="44946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DR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" y="4160520"/>
            <a:ext cx="6949440" cy="22860"/>
          </a:xfrm>
          <a:prstGeom prst="rect">
            <a:avLst/>
          </a:prstGeom>
          <a:solidFill>
            <a:srgbClr val="436F60"/>
          </a:solidFill>
          <a:ln>
            <a:solidFill>
              <a:srgbClr val="436F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2" y="4434840"/>
            <a:ext cx="7863840" cy="32004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ESTUDIANTE: Alex Patricio Vazquez Machay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4892040"/>
            <a:ext cx="8046720" cy="64008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CCE0D7"/>
                </a:solidFill>
                <a:latin typeface="Aptos"/>
              </a:rPr>
              <a:t>Asignatura: Programación Orientada a Objetos (CDS-0201)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CCE0D7"/>
                </a:solidFill>
                <a:latin typeface="Aptos"/>
              </a:rPr>
              <a:t>Docente: Ing. Luiggi Alexander Jalca Saltos · Segundo semestre “A”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" y="5870448"/>
            <a:ext cx="2651760" cy="365760"/>
          </a:xfrm>
          <a:prstGeom prst="roundRect">
            <a:avLst/>
          </a:prstGeom>
          <a:solidFill>
            <a:srgbClr val="05694D"/>
          </a:solidFill>
          <a:ln>
            <a:solidFill>
              <a:srgbClr val="056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5934456"/>
            <a:ext cx="2450592" cy="18288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LENGUAJE ASIGNADO: C# / ASP.NET CORE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10972800" cy="22860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05694D"/>
                </a:solidFill>
                <a:latin typeface="Aptos"/>
              </a:rPr>
              <a:t>S · SITUACIÓN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9496"/>
            <a:ext cx="10972800" cy="56692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04362A"/>
                </a:solidFill>
                <a:latin typeface="Aptos"/>
              </a:rPr>
              <a:t>La solución original en Java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32004"/>
          </a:xfrm>
          <a:prstGeom prst="rect">
            <a:avLst/>
          </a:prstGeom>
          <a:solidFill>
            <a:srgbClr val="05694D"/>
          </a:solidFill>
          <a:ln>
            <a:solidFill>
              <a:srgbClr val="056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881360" cy="34747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D6E79"/>
                </a:solidFill>
                <a:latin typeface="Aptos"/>
              </a:rPr>
              <a:t>El sistema representa el flujo operativo de una planta atunera que prepara lotes para exportación marítima.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510528"/>
            <a:ext cx="822960" cy="18288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5D6E79"/>
                </a:solidFill>
                <a:latin typeface="Aptos"/>
              </a:rPr>
              <a:t>02 / 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3474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73152" cy="1325880"/>
          </a:xfrm>
          <a:prstGeom prst="rect">
            <a:avLst/>
          </a:prstGeom>
          <a:solidFill>
            <a:srgbClr val="05694D"/>
          </a:solidFill>
          <a:ln>
            <a:solidFill>
              <a:srgbClr val="056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1892807"/>
            <a:ext cx="3108960" cy="329184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4362A"/>
                </a:solidFill>
                <a:latin typeface="Aptos"/>
              </a:rPr>
              <a:t>Contexto industrial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286000"/>
            <a:ext cx="3108960" cy="75895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E293B"/>
                </a:solidFill>
                <a:latin typeface="Aptos"/>
              </a:rPr>
              <a:t>La exportación requiere registrar cliente, país de destino, fechas de producción y exportación, lote y pallets.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783080"/>
            <a:ext cx="3474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783080"/>
            <a:ext cx="73152" cy="1325880"/>
          </a:xfrm>
          <a:prstGeom prst="rect">
            <a:avLst/>
          </a:prstGeom>
          <a:solidFill>
            <a:srgbClr val="2D6399"/>
          </a:solidFill>
          <a:ln>
            <a:solidFill>
              <a:srgbClr val="2D6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44568" y="1892807"/>
            <a:ext cx="3108960" cy="329184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4362A"/>
                </a:solidFill>
                <a:latin typeface="Aptos"/>
              </a:rPr>
              <a:t>Solución Java original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286000"/>
            <a:ext cx="3108960" cy="75895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E293B"/>
                </a:solidFill>
                <a:latin typeface="Aptos"/>
              </a:rPr>
              <a:t>Clases como Vendedor, PackingList / FormularioPackingList, InspeccionTemporal y DespachoExportacion modelan el proceso.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783080"/>
            <a:ext cx="34747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783080"/>
            <a:ext cx="73152" cy="1325880"/>
          </a:xfrm>
          <a:prstGeom prst="rect">
            <a:avLst/>
          </a:prstGeom>
          <a:solidFill>
            <a:srgbClr val="E8AD39"/>
          </a:solidFill>
          <a:ln>
            <a:solidFill>
              <a:srgbClr val="E8AD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1892807"/>
            <a:ext cx="3108960" cy="329184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4362A"/>
                </a:solidFill>
                <a:latin typeface="Aptos"/>
              </a:rPr>
              <a:t>Regla de negocio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286000"/>
            <a:ext cx="3108960" cy="75895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E293B"/>
                </a:solidFill>
                <a:latin typeface="Aptos"/>
              </a:rPr>
              <a:t>El sistema calcula la antigüedad del lote y lo clasifica para apoyar la decisión antes del embarque.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703320"/>
            <a:ext cx="2011680" cy="749808"/>
          </a:xfrm>
          <a:prstGeom prst="roundRect">
            <a:avLst/>
          </a:prstGeom>
          <a:solidFill>
            <a:srgbClr val="DCF5E9"/>
          </a:solidFill>
          <a:ln>
            <a:solidFill>
              <a:srgbClr val="DCF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8096" y="3886200"/>
            <a:ext cx="320040" cy="22860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5694D"/>
                </a:solidFill>
                <a:latin typeface="Aptos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840480"/>
            <a:ext cx="1444752" cy="34747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362A"/>
                </a:solidFill>
                <a:latin typeface="Aptos"/>
              </a:rPr>
              <a:t>Vendedor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42615" y="3931920"/>
            <a:ext cx="292608" cy="2743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05694D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962656" y="3703320"/>
            <a:ext cx="2011680" cy="749808"/>
          </a:xfrm>
          <a:prstGeom prst="roundRect">
            <a:avLst/>
          </a:prstGeom>
          <a:solidFill>
            <a:srgbClr val="DCF5E9"/>
          </a:solidFill>
          <a:ln>
            <a:solidFill>
              <a:srgbClr val="DCF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072384" y="3886200"/>
            <a:ext cx="320040" cy="22860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5694D"/>
                </a:solidFill>
                <a:latin typeface="Aptos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01568" y="3840480"/>
            <a:ext cx="1444752" cy="34747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362A"/>
                </a:solidFill>
                <a:latin typeface="Aptos"/>
              </a:rPr>
              <a:t>Packing List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46904" y="3931920"/>
            <a:ext cx="292608" cy="2743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05694D"/>
                </a:solidFill>
                <a:latin typeface="Aptos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266944" y="3703320"/>
            <a:ext cx="2011680" cy="749808"/>
          </a:xfrm>
          <a:prstGeom prst="roundRect">
            <a:avLst/>
          </a:prstGeom>
          <a:solidFill>
            <a:srgbClr val="DCF5E9"/>
          </a:solidFill>
          <a:ln>
            <a:solidFill>
              <a:srgbClr val="DCF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376672" y="3886200"/>
            <a:ext cx="320040" cy="22860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5694D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05856" y="3840480"/>
            <a:ext cx="1444752" cy="34747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362A"/>
                </a:solidFill>
                <a:latin typeface="Aptos"/>
              </a:rPr>
              <a:t>Inspección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51192" y="3931920"/>
            <a:ext cx="292608" cy="2743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05694D"/>
                </a:solidFill>
                <a:latin typeface="Aptos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71232" y="3703320"/>
            <a:ext cx="2011680" cy="749808"/>
          </a:xfrm>
          <a:prstGeom prst="roundRect">
            <a:avLst/>
          </a:prstGeom>
          <a:solidFill>
            <a:srgbClr val="DCF5E9"/>
          </a:solidFill>
          <a:ln>
            <a:solidFill>
              <a:srgbClr val="DCF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680960" y="3886200"/>
            <a:ext cx="320040" cy="22860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5694D"/>
                </a:solidFill>
                <a:latin typeface="Aptos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10144" y="3840480"/>
            <a:ext cx="1444752" cy="34747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362A"/>
                </a:solidFill>
                <a:latin typeface="Aptos"/>
              </a:rPr>
              <a:t>Contenedor reefer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55480" y="3931920"/>
            <a:ext cx="292608" cy="2743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05694D"/>
                </a:solidFill>
                <a:latin typeface="Aptos"/>
              </a:rP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875520" y="3703320"/>
            <a:ext cx="2011680" cy="749808"/>
          </a:xfrm>
          <a:prstGeom prst="roundRect">
            <a:avLst/>
          </a:prstGeom>
          <a:solidFill>
            <a:srgbClr val="DCF5E9"/>
          </a:solidFill>
          <a:ln>
            <a:solidFill>
              <a:srgbClr val="DCF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985248" y="3886200"/>
            <a:ext cx="320040" cy="22860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05694D"/>
                </a:solidFill>
                <a:latin typeface="Aptos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14432" y="3840480"/>
            <a:ext cx="1444752" cy="34747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4362A"/>
                </a:solidFill>
                <a:latin typeface="Aptos"/>
              </a:rPr>
              <a:t>Resumen de zarpe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4983480"/>
            <a:ext cx="10515600" cy="68580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04362A"/>
                </a:solidFill>
                <a:latin typeface="Aptos"/>
              </a:rPr>
              <a:t>Objetivo del sistema: conservar trazabilidad de los lotes y emitir un resumen que distinga productos aptos, en observación y rechazados.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10972800" cy="22860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05694D"/>
                </a:solidFill>
                <a:latin typeface="Aptos"/>
              </a:rPr>
              <a:t>C · COMPLICACIÓN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9496"/>
            <a:ext cx="10972800" cy="56692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04362A"/>
                </a:solidFill>
                <a:latin typeface="Aptos"/>
              </a:rPr>
              <a:t>¿Qué obliga a modernizar la solución?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32004"/>
          </a:xfrm>
          <a:prstGeom prst="rect">
            <a:avLst/>
          </a:prstGeom>
          <a:solidFill>
            <a:srgbClr val="05694D"/>
          </a:solidFill>
          <a:ln>
            <a:solidFill>
              <a:srgbClr val="056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881360" cy="34747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D6E79"/>
                </a:solidFill>
                <a:latin typeface="Aptos"/>
              </a:rPr>
              <a:t>La migración busca llevar la lógica de negocio desde una ejecución Java de consola a una aplicación web en C#.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510528"/>
            <a:ext cx="822960" cy="18288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5D6E79"/>
                </a:solidFill>
                <a:latin typeface="Aptos"/>
              </a:rPr>
              <a:t>03 / 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35204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A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73152" cy="1508760"/>
          </a:xfrm>
          <a:prstGeom prst="rect">
            <a:avLst/>
          </a:prstGeom>
          <a:solidFill>
            <a:srgbClr val="B93636"/>
          </a:solidFill>
          <a:ln>
            <a:solidFill>
              <a:srgbClr val="B9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7" y="1892807"/>
            <a:ext cx="3154680" cy="329184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4362A"/>
                </a:solidFill>
                <a:latin typeface="Aptos"/>
              </a:rPr>
              <a:t>Interacción limitada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286000"/>
            <a:ext cx="3154680" cy="941831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E293B"/>
                </a:solidFill>
                <a:latin typeface="Aptos"/>
              </a:rPr>
              <a:t>La versión Java original se ejecuta mediante objetos y salida por consola; no ofrece por sí sola una interfaz web para navegar por módulos.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783080"/>
            <a:ext cx="35204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A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43400" y="1783080"/>
            <a:ext cx="73152" cy="1508760"/>
          </a:xfrm>
          <a:prstGeom prst="rect">
            <a:avLst/>
          </a:prstGeom>
          <a:solidFill>
            <a:srgbClr val="E8AD39"/>
          </a:solidFill>
          <a:ln>
            <a:solidFill>
              <a:srgbClr val="E8AD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44568" y="1892807"/>
            <a:ext cx="3154680" cy="329184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4362A"/>
                </a:solidFill>
                <a:latin typeface="Aptos"/>
              </a:rPr>
              <a:t>Riesgo de error manual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286000"/>
            <a:ext cx="3154680" cy="941831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E293B"/>
                </a:solidFill>
                <a:latin typeface="Aptos"/>
              </a:rPr>
              <a:t>Comparar fechas manualmente puede generar clasificaciones inconsistentes y retrasos al revisar lotes.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783080"/>
            <a:ext cx="35204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A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783080"/>
            <a:ext cx="73152" cy="1508760"/>
          </a:xfrm>
          <a:prstGeom prst="rect">
            <a:avLst/>
          </a:prstGeom>
          <a:solidFill>
            <a:srgbClr val="2D6399"/>
          </a:solidFill>
          <a:ln>
            <a:solidFill>
              <a:srgbClr val="2D6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1892807"/>
            <a:ext cx="3154680" cy="329184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4362A"/>
                </a:solidFill>
                <a:latin typeface="Aptos"/>
              </a:rPr>
              <a:t>Trazabilidad y crecimiento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286000"/>
            <a:ext cx="3154680" cy="941831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E293B"/>
                </a:solidFill>
                <a:latin typeface="Aptos"/>
              </a:rPr>
              <a:t>El proceso necesita pantallas conectadas, validación centralizada y una vía futura para persistir registros.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794760"/>
            <a:ext cx="10744200" cy="1143000"/>
          </a:xfrm>
          <a:prstGeom prst="roundRect">
            <a:avLst/>
          </a:prstGeom>
          <a:solidFill>
            <a:srgbClr val="FFF6E1"/>
          </a:solidFill>
          <a:ln>
            <a:solidFill>
              <a:srgbClr val="F5D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4005072"/>
            <a:ext cx="2377440" cy="32004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04362A"/>
                </a:solidFill>
                <a:latin typeface="Aptos"/>
              </a:rPr>
              <a:t>Alcance de la modernización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3931920"/>
            <a:ext cx="7818120" cy="64008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E293B"/>
                </a:solidFill>
                <a:latin typeface="Aptos"/>
              </a:rPr>
              <a:t>Se creó una base web ASP.NET Core MVC con módulos de Vendedor, Packing List, Inspección y Despacho. Actualmente los registros se conservan en memoria, por lo que falta persistencia y prueba integral.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349240"/>
            <a:ext cx="10424160" cy="38404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1">
                <a:solidFill>
                  <a:srgbClr val="5D6E79"/>
                </a:solidFill>
                <a:latin typeface="Aptos"/>
              </a:rPr>
              <a:t>Nota: estos son límites observados del diseño actual; no se atribuyen costes económicos cuantificados porque los documentos no los especifican.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10972800" cy="22860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05694D"/>
                </a:solidFill>
                <a:latin typeface="Aptos"/>
              </a:rPr>
              <a:t>Q · PREGUNTA CLAVE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9496"/>
            <a:ext cx="10972800" cy="56692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04362A"/>
                </a:solidFill>
                <a:latin typeface="Aptos"/>
              </a:rPr>
              <a:t>¿Por qué y cómo C# resuelve el problema?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32004"/>
          </a:xfrm>
          <a:prstGeom prst="rect">
            <a:avLst/>
          </a:prstGeom>
          <a:solidFill>
            <a:srgbClr val="05694D"/>
          </a:solidFill>
          <a:ln>
            <a:solidFill>
              <a:srgbClr val="056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881360" cy="34747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D6E79"/>
                </a:solidFill>
                <a:latin typeface="Aptos"/>
              </a:rPr>
              <a:t>La modernización debe cambiar la plataforma sin perder encapsulamiento, validaciones ni invariantes del dominio.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510528"/>
            <a:ext cx="822960" cy="18288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5D6E79"/>
                </a:solidFill>
                <a:latin typeface="Aptos"/>
              </a:rPr>
              <a:t>04 / 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10652760" cy="960120"/>
          </a:xfrm>
          <a:prstGeom prst="roundRect">
            <a:avLst/>
          </a:prstGeom>
          <a:solidFill>
            <a:srgbClr val="04362A"/>
          </a:solidFill>
          <a:ln>
            <a:solidFill>
              <a:srgbClr val="043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084831"/>
            <a:ext cx="10104120" cy="5029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Aptos"/>
              </a:rPr>
              <a:t>¿Cómo migrar el flujo de Java a C# / ASP.NET Core manteniendo las reglas de negocio y haciendo más accesible el proceso mediante una interfaz web?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337560"/>
            <a:ext cx="32918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3337560"/>
            <a:ext cx="73152" cy="1325880"/>
          </a:xfrm>
          <a:prstGeom prst="rect">
            <a:avLst/>
          </a:prstGeom>
          <a:solidFill>
            <a:srgbClr val="05694D"/>
          </a:solidFill>
          <a:ln>
            <a:solidFill>
              <a:srgbClr val="056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24128" y="3447288"/>
            <a:ext cx="2926080" cy="329184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4362A"/>
                </a:solidFill>
                <a:latin typeface="Aptos"/>
              </a:rPr>
              <a:t>C#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3840480"/>
            <a:ext cx="2926080" cy="75895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E293B"/>
                </a:solidFill>
                <a:latin typeface="Aptos"/>
              </a:rPr>
              <a:t>Lenguaje fuertemente tipado, clases, propiedades y constructores para representar las entidades.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3337560"/>
            <a:ext cx="32918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34840" y="3337560"/>
            <a:ext cx="73152" cy="1325880"/>
          </a:xfrm>
          <a:prstGeom prst="rect">
            <a:avLst/>
          </a:prstGeom>
          <a:solidFill>
            <a:srgbClr val="2D6399"/>
          </a:solidFill>
          <a:ln>
            <a:solidFill>
              <a:srgbClr val="2D6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36007" y="3447288"/>
            <a:ext cx="2926080" cy="329184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4362A"/>
                </a:solidFill>
                <a:latin typeface="Aptos"/>
              </a:rPr>
              <a:t>ASP.NET Core MVC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7" y="3840480"/>
            <a:ext cx="2926080" cy="75895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E293B"/>
                </a:solidFill>
                <a:latin typeface="Aptos"/>
              </a:rPr>
              <a:t>Separa Models, Controllers y Views; facilita formularios web y navegación entre módulos.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3337560"/>
            <a:ext cx="32918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46720" y="3337560"/>
            <a:ext cx="73152" cy="1325880"/>
          </a:xfrm>
          <a:prstGeom prst="rect">
            <a:avLst/>
          </a:prstGeom>
          <a:solidFill>
            <a:srgbClr val="E8AD39"/>
          </a:solidFill>
          <a:ln>
            <a:solidFill>
              <a:srgbClr val="E8AD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47888" y="3447288"/>
            <a:ext cx="2926080" cy="329184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4362A"/>
                </a:solidFill>
                <a:latin typeface="Aptos"/>
              </a:rPr>
              <a:t>Reglas preservadas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3840480"/>
            <a:ext cx="2926080" cy="75895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E293B"/>
                </a:solidFill>
                <a:latin typeface="Aptos"/>
              </a:rPr>
              <a:t>Validar identificadores, fechas, antigüedad, estados de lote y capacidad del contenedor.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257800"/>
            <a:ext cx="10332720" cy="41148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04362A"/>
                </a:solidFill>
                <a:latin typeface="Aptos"/>
              </a:rPr>
              <a:t>Principio: cambiar la tecnología de implementación no debe cambiar las reglas esenciales del negocio.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10972800" cy="22860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05694D"/>
                </a:solidFill>
                <a:latin typeface="Aptos"/>
              </a:rPr>
              <a:t>A · RESPUESTA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9496"/>
            <a:ext cx="10972800" cy="56692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04362A"/>
                </a:solidFill>
                <a:latin typeface="Aptos"/>
              </a:rPr>
              <a:t>Comparativa técnica: Java vs C#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32004"/>
          </a:xfrm>
          <a:prstGeom prst="rect">
            <a:avLst/>
          </a:prstGeom>
          <a:solidFill>
            <a:srgbClr val="05694D"/>
          </a:solidFill>
          <a:ln>
            <a:solidFill>
              <a:srgbClr val="056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881360" cy="34747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D6E79"/>
                </a:solidFill>
                <a:latin typeface="Aptos"/>
              </a:rPr>
              <a:t>Equivalencias conceptuales relevantes para migrar el modelo orientado a objetos.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510528"/>
            <a:ext cx="822960" cy="18288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5D6E79"/>
                </a:solidFill>
                <a:latin typeface="Aptos"/>
              </a:rPr>
              <a:t>05 / 06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783080"/>
          <a:ext cx="10881359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38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37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437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Aspecto</a:t>
                      </a:r>
                    </a:p>
                  </a:txBody>
                  <a:tcPr marL="73152" marR="54864" marT="36576" marB="27432">
                    <a:solidFill>
                      <a:srgbClr val="043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Java original</a:t>
                      </a:r>
                    </a:p>
                  </a:txBody>
                  <a:tcPr marL="73152" marR="54864" marT="36576" marB="27432">
                    <a:solidFill>
                      <a:srgbClr val="0436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C# / ASP.NET Core</a:t>
                      </a:r>
                    </a:p>
                  </a:txBody>
                  <a:tcPr marL="73152" marR="54864" marT="36576" marB="27432">
                    <a:solidFill>
                      <a:srgbClr val="0436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Sintaxis</a:t>
                      </a:r>
                    </a:p>
                  </a:txBody>
                  <a:tcPr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Clases, tipos, métodos y getters/setters</a:t>
                      </a:r>
                    </a:p>
                  </a:txBody>
                  <a:tcPr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Clases, tipos, propiedades y métodos</a:t>
                      </a:r>
                    </a:p>
                  </a:txBody>
                  <a:tcPr marL="73152" marR="54864" marT="36576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Constructores</a:t>
                      </a:r>
                    </a:p>
                  </a:txBody>
                  <a:tcPr marL="73152" marR="54864" marT="36576" marB="27432">
                    <a:solidFill>
                      <a:srgbClr val="F5F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Inicializan el estado del objeto</a:t>
                      </a:r>
                    </a:p>
                  </a:txBody>
                  <a:tcPr marL="73152" marR="54864" marT="36576" marB="27432">
                    <a:solidFill>
                      <a:srgbClr val="F5F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Inicializan el estado del objeto; pueden usar validaciones y parámetros opcionales</a:t>
                      </a:r>
                    </a:p>
                  </a:txBody>
                  <a:tcPr marL="73152" marR="54864" marT="36576" marB="27432">
                    <a:solidFill>
                      <a:srgbClr val="F5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Gestión de memoria</a:t>
                      </a:r>
                    </a:p>
                  </a:txBody>
                  <a:tcPr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Administrada por JVM y recolector de basura</a:t>
                      </a:r>
                    </a:p>
                  </a:txBody>
                  <a:tcPr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Administrada por CLR y recolector de basura</a:t>
                      </a:r>
                    </a:p>
                  </a:txBody>
                  <a:tcPr marL="73152" marR="54864" marT="36576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Tipado</a:t>
                      </a:r>
                    </a:p>
                  </a:txBody>
                  <a:tcPr marL="73152" marR="54864" marT="36576" marB="27432">
                    <a:solidFill>
                      <a:srgbClr val="F5F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Estático y fuerte</a:t>
                      </a:r>
                    </a:p>
                  </a:txBody>
                  <a:tcPr marL="73152" marR="54864" marT="36576" marB="27432">
                    <a:solidFill>
                      <a:srgbClr val="F5F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Estático y fuerte</a:t>
                      </a:r>
                    </a:p>
                  </a:txBody>
                  <a:tcPr marL="73152" marR="54864" marT="36576" marB="27432">
                    <a:solidFill>
                      <a:srgbClr val="F5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Interfaz</a:t>
                      </a:r>
                    </a:p>
                  </a:txBody>
                  <a:tcPr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Ejecución original por consola (main.java)</a:t>
                      </a:r>
                    </a:p>
                  </a:txBody>
                  <a:tcPr marL="73152" marR="54864" marT="36576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Aplicación web MVC: vistas Razor, controladores y servicios</a:t>
                      </a:r>
                    </a:p>
                  </a:txBody>
                  <a:tcPr marL="73152" marR="54864" marT="36576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Persistencia</a:t>
                      </a:r>
                    </a:p>
                  </a:txBody>
                  <a:tcPr marL="73152" marR="54864" marT="36576" marB="27432">
                    <a:solidFill>
                      <a:srgbClr val="F5F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No indicada como base de datos en el material revisado</a:t>
                      </a:r>
                    </a:p>
                  </a:txBody>
                  <a:tcPr marL="73152" marR="54864" marT="36576" marB="27432">
                    <a:solidFill>
                      <a:srgbClr val="F5F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200"/>
                        </a:spcAft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La versión actual guarda en memoria; base de datos pendiente</a:t>
                      </a:r>
                    </a:p>
                  </a:txBody>
                  <a:tcPr marL="73152" marR="54864" marT="36576" marB="27432">
                    <a:solidFill>
                      <a:srgbClr val="F5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6080760"/>
            <a:ext cx="10515600" cy="25603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05694D"/>
                </a:solidFill>
                <a:latin typeface="Aptos"/>
              </a:rPr>
              <a:t>La migración no es una traducción literal: también adapta la interacción al patrón MVC de ASP.NET Core.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28600"/>
            <a:ext cx="10972800" cy="22860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05694D"/>
                </a:solidFill>
                <a:latin typeface="Aptos"/>
              </a:rPr>
              <a:t>DEMOSTRACIÓN TÉCNICA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9496"/>
            <a:ext cx="10972800" cy="56692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04362A"/>
                </a:solidFill>
                <a:latin typeface="Aptos"/>
              </a:rPr>
              <a:t>Código C# y cumplimiento de invariantes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0972800" cy="32004"/>
          </a:xfrm>
          <a:prstGeom prst="rect">
            <a:avLst/>
          </a:prstGeom>
          <a:solidFill>
            <a:srgbClr val="05694D"/>
          </a:solidFill>
          <a:ln>
            <a:solidFill>
              <a:srgbClr val="056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261872"/>
            <a:ext cx="10881360" cy="34747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D6E79"/>
                </a:solidFill>
                <a:latin typeface="Aptos"/>
              </a:rPr>
              <a:t>Durante la demostración, mostrar el modelo, la inspección y la vista del resumen en Visual Studio.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510528"/>
            <a:ext cx="822960" cy="18288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5D6E79"/>
                </a:solidFill>
                <a:latin typeface="Aptos"/>
              </a:rPr>
              <a:t>06 / 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691640"/>
            <a:ext cx="5623560" cy="3520440"/>
          </a:xfrm>
          <a:prstGeom prst="roundRect">
            <a:avLst/>
          </a:prstGeom>
          <a:solidFill>
            <a:srgbClr val="18232A"/>
          </a:solidFill>
          <a:ln>
            <a:solidFill>
              <a:srgbClr val="1823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920240"/>
            <a:ext cx="5212080" cy="301752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onsolas"/>
              </a:rPr>
              <a:t>// Ejemplo ilustrativo de validación en C#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onsolas"/>
              </a:rPr>
              <a:t>public string ClasificarAntiguedad(int dias)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onsolas"/>
              </a:rPr>
              <a:t>{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onsolas"/>
              </a:rPr>
              <a:t>    if (dias &lt; 0)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onsolas"/>
              </a:rPr>
              <a:t>        throw new ArgumentException("Fecha inválida");</a:t>
            </a:r>
          </a:p>
          <a:p>
            <a:pPr algn="l">
              <a:spcAft>
                <a:spcPts val="400"/>
              </a:spcAft>
            </a:pPr>
            <a:endParaRPr sz="1300" b="0" i="0">
              <a:solidFill>
                <a:srgbClr val="FFFFFF"/>
              </a:solidFill>
              <a:latin typeface="Consolas"/>
            </a:endParaRP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onsolas"/>
              </a:rPr>
              <a:t>    if (dias &lt; 30) return "ProductoOK";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onsolas"/>
              </a:rPr>
              <a:t>    if (dias &lt;= 60) return "En observación";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onsolas"/>
              </a:rPr>
              <a:t>    return "Rechazado";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FFFFFF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1691640"/>
            <a:ext cx="49834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A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37960" y="1691640"/>
            <a:ext cx="73152" cy="960120"/>
          </a:xfrm>
          <a:prstGeom prst="rect">
            <a:avLst/>
          </a:prstGeom>
          <a:solidFill>
            <a:srgbClr val="05694D"/>
          </a:solidFill>
          <a:ln>
            <a:solidFill>
              <a:srgbClr val="0569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39128" y="1801368"/>
            <a:ext cx="4617720" cy="329184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4362A"/>
                </a:solidFill>
                <a:latin typeface="Aptos"/>
              </a:rPr>
              <a:t>Invariante 1 · Identidad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39128" y="2194560"/>
            <a:ext cx="4617720" cy="39319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E293B"/>
                </a:solidFill>
                <a:latin typeface="Aptos"/>
              </a:rPr>
              <a:t>El ID del vendedor / Packing List no debe estar vacío.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60" y="2816352"/>
            <a:ext cx="49834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A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537960" y="2816352"/>
            <a:ext cx="73152" cy="960120"/>
          </a:xfrm>
          <a:prstGeom prst="rect">
            <a:avLst/>
          </a:prstGeom>
          <a:solidFill>
            <a:srgbClr val="E8AD39"/>
          </a:solidFill>
          <a:ln>
            <a:solidFill>
              <a:srgbClr val="E8AD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39128" y="2926080"/>
            <a:ext cx="4617720" cy="329184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4362A"/>
                </a:solidFill>
                <a:latin typeface="Aptos"/>
              </a:rPr>
              <a:t>Invariante 2 · Fechas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39128" y="3319272"/>
            <a:ext cx="4617720" cy="39319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E293B"/>
                </a:solidFill>
                <a:latin typeface="Aptos"/>
              </a:rPr>
              <a:t>La fecha de producción no puede ser posterior a la exportación.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37960" y="3941063"/>
            <a:ext cx="49834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A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537960" y="3941063"/>
            <a:ext cx="73152" cy="960120"/>
          </a:xfrm>
          <a:prstGeom prst="rect">
            <a:avLst/>
          </a:prstGeom>
          <a:solidFill>
            <a:srgbClr val="B93636"/>
          </a:solidFill>
          <a:ln>
            <a:solidFill>
              <a:srgbClr val="B936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39128" y="4050791"/>
            <a:ext cx="4617720" cy="329184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4362A"/>
                </a:solidFill>
                <a:latin typeface="Aptos"/>
              </a:rPr>
              <a:t>Invariante 3 · Despacho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9128" y="4443983"/>
            <a:ext cx="4617720" cy="393192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1E293B"/>
                </a:solidFill>
                <a:latin typeface="Aptos"/>
              </a:rPr>
              <a:t>Un lote rechazado no debe contarse como apto; controlar la capacidad del contenedor.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468112"/>
            <a:ext cx="10698480" cy="566928"/>
          </a:xfrm>
          <a:prstGeom prst="roundRect">
            <a:avLst/>
          </a:prstGeom>
          <a:solidFill>
            <a:srgbClr val="DCF5E9"/>
          </a:solidFill>
          <a:ln>
            <a:solidFill>
              <a:srgbClr val="DCF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5614416"/>
            <a:ext cx="10424160" cy="246888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04362A"/>
                </a:solidFill>
                <a:latin typeface="Aptos"/>
              </a:rPr>
              <a:t>Prueba de casos: 10 días → ProductoOK · 45 días → En observación · 75 días → Rechazado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153912"/>
            <a:ext cx="10515600" cy="228600"/>
          </a:xfrm>
          <a:prstGeom prst="rect">
            <a:avLst/>
          </a:prstGeom>
          <a:noFill/>
        </p:spPr>
        <p:txBody>
          <a:bodyPr wrap="square" lIns="73152" rIns="73152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1">
                <a:solidFill>
                  <a:srgbClr val="5D6E79"/>
                </a:solidFill>
                <a:latin typeface="Aptos"/>
              </a:rPr>
              <a:t>El código de la diapositiva ilustra la regla; la implementación final debe verificarse contra los métodos reales del proyecto.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820</Words>
  <Application>Microsoft Office PowerPoint</Application>
  <PresentationFormat>Panorámica</PresentationFormat>
  <Paragraphs>111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1" baseType="lpstr">
      <vt:lpstr>Aptos</vt:lpstr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Migración Java a C# ASP.NET Core - Packing List y Despacho</dc:title>
  <dc:subject>Presentación SCQA de seis diapositivas</dc:subject>
  <dc:creator>Alex Patricio Vazquez Machay</dc:creator>
  <cp:keywords/>
  <dc:description>generated using python-pptx</dc:description>
  <cp:lastModifiedBy>Winnova</cp:lastModifiedBy>
  <cp:revision>1</cp:revision>
  <dcterms:created xsi:type="dcterms:W3CDTF">2013-01-27T09:14:16Z</dcterms:created>
  <dcterms:modified xsi:type="dcterms:W3CDTF">2026-10-22T01:59:34Z</dcterms:modified>
  <cp:category/>
</cp:coreProperties>
</file>